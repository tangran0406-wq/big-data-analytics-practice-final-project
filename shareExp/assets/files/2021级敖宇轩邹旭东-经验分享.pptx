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72" r:id="rId3"/>
    <p:sldId id="267" r:id="rId4"/>
    <p:sldId id="274" r:id="rId5"/>
    <p:sldId id="268" r:id="rId6"/>
    <p:sldId id="275" r:id="rId7"/>
    <p:sldId id="269" r:id="rId8"/>
    <p:sldId id="270" r:id="rId9"/>
    <p:sldId id="273" r:id="rId10"/>
    <p:sldId id="261" r:id="rId11"/>
    <p:sldId id="277" r:id="rId12"/>
    <p:sldId id="278" r:id="rId13"/>
    <p:sldId id="271" r:id="rId14"/>
    <p:sldId id="264" r:id="rId15"/>
    <p:sldId id="291" r:id="rId16"/>
    <p:sldId id="279" r:id="rId17"/>
    <p:sldId id="281" r:id="rId18"/>
    <p:sldId id="290" r:id="rId19"/>
    <p:sldId id="282" r:id="rId20"/>
    <p:sldId id="283" r:id="rId21"/>
    <p:sldId id="284" r:id="rId22"/>
    <p:sldId id="285" r:id="rId23"/>
    <p:sldId id="280" r:id="rId24"/>
    <p:sldId id="292" r:id="rId25"/>
    <p:sldId id="286" r:id="rId26"/>
    <p:sldId id="288" r:id="rId27"/>
    <p:sldId id="289" r:id="rId28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56" autoAdjust="0"/>
    <p:restoredTop sz="94660"/>
  </p:normalViewPr>
  <p:slideViewPr>
    <p:cSldViewPr snapToGrid="0">
      <p:cViewPr varScale="1">
        <p:scale>
          <a:sx n="95" d="100"/>
          <a:sy n="95" d="100"/>
        </p:scale>
        <p:origin x="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可以套用别人的模板，不推荐从头开始学</a:t>
            </a: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可以套用别人的模板，不推荐从头开始学</a:t>
            </a:r>
          </a:p>
          <a:p>
            <a:endParaRPr lang="zh-CN" altLang="en-US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0935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可以套用别人的模板，不推荐从头开始学</a:t>
            </a:r>
          </a:p>
          <a:p>
            <a:endParaRPr lang="zh-CN" altLang="en-US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3971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yuxua24/Data-analysi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blog.csdn.net/nanzhou520/article/details/13579613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charts.apache.org/zh/index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4.xml"/><Relationship Id="rId7" Type="http://schemas.openxmlformats.org/officeDocument/2006/relationships/image" Target="../media/image17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3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10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16.xml"/><Relationship Id="rId7" Type="http://schemas.openxmlformats.org/officeDocument/2006/relationships/image" Target="../media/image30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74638"/>
            <a:ext cx="9144000" cy="2387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大数据分析实践经验分享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分享人：邹旭东、敖宇轩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A24770F-B0D2-A90C-2DDC-555192179F96}"/>
              </a:ext>
            </a:extLst>
          </p:cNvPr>
          <p:cNvSpPr txBox="1"/>
          <p:nvPr/>
        </p:nvSpPr>
        <p:spPr>
          <a:xfrm>
            <a:off x="4348162" y="2413337"/>
            <a:ext cx="34956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latin typeface="宋体" panose="02010600030101010101" pitchFamily="2" charset="-122"/>
                <a:ea typeface="宋体" panose="02010600030101010101" pitchFamily="2" charset="-122"/>
              </a:rPr>
              <a:t>团队协作</a:t>
            </a:r>
            <a:endParaRPr lang="en-US" altLang="zh-CN" sz="6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145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19881"/>
            <a:ext cx="10515600" cy="4351338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腾讯文档、飞书文档、石墨文档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……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BD69637-5F0A-53DD-A944-2CB93A6E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5" y="1875863"/>
            <a:ext cx="10786464" cy="300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3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8DFC215-DA44-0EF9-54D3-AED0E0ABAC8B}"/>
              </a:ext>
            </a:extLst>
          </p:cNvPr>
          <p:cNvSpPr txBox="1"/>
          <p:nvPr/>
        </p:nvSpPr>
        <p:spPr>
          <a:xfrm>
            <a:off x="2952750" y="389612"/>
            <a:ext cx="6591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yuxua24/Data-analysis (github.com)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9B2ADBE-69FD-5141-64A6-47A2F1524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997874"/>
            <a:ext cx="6505575" cy="5214251"/>
          </a:xfrm>
          <a:prstGeom prst="rect">
            <a:avLst/>
          </a:prstGeom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976C38DD-70FE-3B7E-CDCB-90CC0CB8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881"/>
            <a:ext cx="1495425" cy="508794"/>
          </a:xfrm>
        </p:spPr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13BF1C-07EE-18CC-316C-D55A0FBAB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906" y="1519164"/>
            <a:ext cx="5022287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3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8E39E2B-48E3-A802-DA8D-46D530EF91C8}"/>
              </a:ext>
            </a:extLst>
          </p:cNvPr>
          <p:cNvSpPr txBox="1"/>
          <p:nvPr/>
        </p:nvSpPr>
        <p:spPr>
          <a:xfrm>
            <a:off x="2924174" y="319881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【GitHub】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手把手教你将本地项目上传到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GitHub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仓库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_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怎么上传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github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-CSDN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博客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976C38DD-70FE-3B7E-CDCB-90CC0CB8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881"/>
            <a:ext cx="1952625" cy="508794"/>
          </a:xfrm>
        </p:spPr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68F4161-DD5F-B330-15A0-5BC0869FD1BF}"/>
              </a:ext>
            </a:extLst>
          </p:cNvPr>
          <p:cNvGrpSpPr/>
          <p:nvPr/>
        </p:nvGrpSpPr>
        <p:grpSpPr>
          <a:xfrm>
            <a:off x="838200" y="1107427"/>
            <a:ext cx="8181975" cy="4643146"/>
            <a:chOff x="838200" y="1476375"/>
            <a:chExt cx="8181975" cy="464314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E515E59-F12E-4F81-85F7-DF95174B4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1476375"/>
              <a:ext cx="8181975" cy="4643146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AECA67A-3FEB-6292-197A-74509A0C1183}"/>
                </a:ext>
              </a:extLst>
            </p:cNvPr>
            <p:cNvSpPr/>
            <p:nvPr/>
          </p:nvSpPr>
          <p:spPr>
            <a:xfrm>
              <a:off x="5579364" y="1800224"/>
              <a:ext cx="1033270" cy="3359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9E169A3-2F63-00BB-0EEE-6582702D7084}"/>
                </a:ext>
              </a:extLst>
            </p:cNvPr>
            <p:cNvSpPr/>
            <p:nvPr/>
          </p:nvSpPr>
          <p:spPr>
            <a:xfrm>
              <a:off x="7986905" y="4305299"/>
              <a:ext cx="1033270" cy="3359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3EB8CB0-7361-7D41-CA61-6AEC31B77C15}"/>
                </a:ext>
              </a:extLst>
            </p:cNvPr>
            <p:cNvSpPr/>
            <p:nvPr/>
          </p:nvSpPr>
          <p:spPr>
            <a:xfrm>
              <a:off x="1495425" y="2724482"/>
              <a:ext cx="1890520" cy="3832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C7DAE12-037F-9837-D952-D0400128678B}"/>
              </a:ext>
            </a:extLst>
          </p:cNvPr>
          <p:cNvCxnSpPr>
            <a:cxnSpLocks/>
          </p:cNvCxnSpPr>
          <p:nvPr/>
        </p:nvCxnSpPr>
        <p:spPr>
          <a:xfrm flipH="1">
            <a:off x="3385945" y="1767251"/>
            <a:ext cx="2193419" cy="5720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6D1D219-82C2-0E73-E311-84DBE603EF0D}"/>
              </a:ext>
            </a:extLst>
          </p:cNvPr>
          <p:cNvCxnSpPr>
            <a:cxnSpLocks/>
          </p:cNvCxnSpPr>
          <p:nvPr/>
        </p:nvCxnSpPr>
        <p:spPr>
          <a:xfrm>
            <a:off x="3385945" y="2757557"/>
            <a:ext cx="4600960" cy="12293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6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976C38DD-70FE-3B7E-CDCB-90CC0CB8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881"/>
            <a:ext cx="10515599" cy="508794"/>
          </a:xfrm>
        </p:spPr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C82C649-33B1-069C-B121-A6F9E1FE8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4" y="720089"/>
            <a:ext cx="11029949" cy="592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9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FB04EEA2-EE5E-A9F8-D4F6-56F1D42D83D3}"/>
              </a:ext>
            </a:extLst>
          </p:cNvPr>
          <p:cNvGrpSpPr/>
          <p:nvPr/>
        </p:nvGrpSpPr>
        <p:grpSpPr>
          <a:xfrm>
            <a:off x="838200" y="1073587"/>
            <a:ext cx="8162925" cy="4384238"/>
            <a:chOff x="542150" y="814022"/>
            <a:chExt cx="11107700" cy="5229955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865931A-3957-24DF-9231-992715359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150" y="814022"/>
              <a:ext cx="11107700" cy="5229955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694B419-0D69-B122-3D4B-82416A0B180B}"/>
                </a:ext>
              </a:extLst>
            </p:cNvPr>
            <p:cNvSpPr/>
            <p:nvPr/>
          </p:nvSpPr>
          <p:spPr>
            <a:xfrm>
              <a:off x="542150" y="3771900"/>
              <a:ext cx="2572525" cy="4572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65498B75-4A04-3598-B9BC-EA3E29266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881"/>
            <a:ext cx="10515599" cy="50879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Overleaf: https://www.overleaf.com/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278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57AB51-C94E-6EF3-CCE0-44A49E816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69065"/>
            <a:ext cx="10334625" cy="5543219"/>
          </a:xfrm>
          <a:prstGeom prst="rect">
            <a:avLst/>
          </a:prstGeom>
        </p:spPr>
      </p:pic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65498B75-4A04-3598-B9BC-EA3E29266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881"/>
            <a:ext cx="10515599" cy="50879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Overleaf: https://www.overleaf.com/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120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A24770F-B0D2-A90C-2DDC-555192179F96}"/>
              </a:ext>
            </a:extLst>
          </p:cNvPr>
          <p:cNvSpPr txBox="1"/>
          <p:nvPr/>
        </p:nvSpPr>
        <p:spPr>
          <a:xfrm>
            <a:off x="4348162" y="2413337"/>
            <a:ext cx="34956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latin typeface="宋体" panose="02010600030101010101" pitchFamily="2" charset="-122"/>
                <a:ea typeface="宋体" panose="02010600030101010101" pitchFamily="2" charset="-122"/>
              </a:rPr>
              <a:t>效率工具</a:t>
            </a:r>
            <a:endParaRPr lang="en-US" altLang="zh-CN" sz="6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8661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39DC21E-6AE3-D93F-530E-4BB1856932D2}"/>
              </a:ext>
            </a:extLst>
          </p:cNvPr>
          <p:cNvSpPr txBox="1">
            <a:spLocks/>
          </p:cNvSpPr>
          <p:nvPr/>
        </p:nvSpPr>
        <p:spPr>
          <a:xfrm>
            <a:off x="838200" y="319881"/>
            <a:ext cx="10515599" cy="508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效率工具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E15CC0-2E4C-DF2A-9249-E4E8D210DB09}"/>
              </a:ext>
            </a:extLst>
          </p:cNvPr>
          <p:cNvSpPr txBox="1"/>
          <p:nvPr/>
        </p:nvSpPr>
        <p:spPr>
          <a:xfrm>
            <a:off x="838200" y="10821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Streamlit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• A faster way to build and share data apps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6EEC09-383C-CA59-3D3A-16EC21ADC5EA}"/>
              </a:ext>
            </a:extLst>
          </p:cNvPr>
          <p:cNvSpPr txBox="1"/>
          <p:nvPr/>
        </p:nvSpPr>
        <p:spPr>
          <a:xfrm>
            <a:off x="838200" y="1704975"/>
            <a:ext cx="95157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快速开发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：使用简单的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脚本就可以创建应用，无需使用复杂的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框架。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高交互性：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支持多种输入控件和数据可视化工具，让用户与数据和模型进行互动。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易于共享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Streamlit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应用可以部署到云平台，使团队和客户能够轻松访问。</a:t>
            </a:r>
            <a:endParaRPr lang="en-US" altLang="zh-CN" sz="2000" dirty="0">
              <a:solidFill>
                <a:srgbClr val="191B1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自动生成：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自动创建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页面</a:t>
            </a:r>
            <a:endParaRPr lang="en-US" altLang="zh-CN" sz="2000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B4DF78C-BCB6-4A2B-CF0E-A97440F8B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035138"/>
            <a:ext cx="7258867" cy="36884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39DC21E-6AE3-D93F-530E-4BB1856932D2}"/>
              </a:ext>
            </a:extLst>
          </p:cNvPr>
          <p:cNvSpPr txBox="1">
            <a:spLocks/>
          </p:cNvSpPr>
          <p:nvPr/>
        </p:nvSpPr>
        <p:spPr>
          <a:xfrm>
            <a:off x="838200" y="319881"/>
            <a:ext cx="10515599" cy="508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效率工具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BBC579-FD19-67C8-490B-B43E0E07C21A}"/>
              </a:ext>
            </a:extLst>
          </p:cNvPr>
          <p:cNvSpPr txBox="1"/>
          <p:nvPr/>
        </p:nvSpPr>
        <p:spPr>
          <a:xfrm>
            <a:off x="838200" y="8286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Apache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ECharts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296BE2-8B3F-F6D0-F4E7-E30CE1369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418" y="0"/>
            <a:ext cx="1785163" cy="68580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2459DFF-7B2D-DC1E-F680-046590D58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377" y="1198007"/>
            <a:ext cx="3786329" cy="347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CC47810-E469-51D9-EA9C-D39D30870B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181" y="1337469"/>
            <a:ext cx="5471794" cy="33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7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39DC21E-6AE3-D93F-530E-4BB1856932D2}"/>
              </a:ext>
            </a:extLst>
          </p:cNvPr>
          <p:cNvSpPr txBox="1">
            <a:spLocks/>
          </p:cNvSpPr>
          <p:nvPr/>
        </p:nvSpPr>
        <p:spPr>
          <a:xfrm>
            <a:off x="838200" y="319881"/>
            <a:ext cx="10515599" cy="508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效率工具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4397A7-0BC6-39CD-624A-E7E592391DB6}"/>
              </a:ext>
            </a:extLst>
          </p:cNvPr>
          <p:cNvSpPr txBox="1"/>
          <p:nvPr/>
        </p:nvSpPr>
        <p:spPr>
          <a:xfrm>
            <a:off x="838200" y="920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https://chatgpt.com/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548D3B-0BDE-7475-D13F-913C7715F46F}"/>
              </a:ext>
            </a:extLst>
          </p:cNvPr>
          <p:cNvSpPr txBox="1"/>
          <p:nvPr/>
        </p:nvSpPr>
        <p:spPr>
          <a:xfrm>
            <a:off x="3333750" y="920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ym typeface="+mn-ea"/>
              </a:rPr>
              <a:t>看论文，解释代码，写代码</a:t>
            </a:r>
            <a:r>
              <a:rPr lang="en-US" altLang="zh-CN" dirty="0">
                <a:sym typeface="+mn-ea"/>
              </a:rPr>
              <a:t>……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DA06C3-5DB4-F864-B3F1-BF16D2A9D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45" y="1581150"/>
            <a:ext cx="5039063" cy="13906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522F69D-5DD0-FB79-0722-44858E866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691" y="3295306"/>
            <a:ext cx="5033217" cy="29393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21DC39E-B9D4-D5C5-E6DD-C6291C016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371599"/>
            <a:ext cx="4282744" cy="27090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6BB8B2-5E9A-6CF5-3C87-0A1438E531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006124"/>
            <a:ext cx="4295775" cy="270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3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A24770F-B0D2-A90C-2DDC-555192179F96}"/>
              </a:ext>
            </a:extLst>
          </p:cNvPr>
          <p:cNvSpPr txBox="1"/>
          <p:nvPr/>
        </p:nvSpPr>
        <p:spPr>
          <a:xfrm>
            <a:off x="4348162" y="2413337"/>
            <a:ext cx="34956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latin typeface="宋体" panose="02010600030101010101" pitchFamily="2" charset="-122"/>
                <a:ea typeface="宋体" panose="02010600030101010101" pitchFamily="2" charset="-122"/>
              </a:rPr>
              <a:t>项目选题</a:t>
            </a:r>
            <a:endParaRPr lang="en-US" altLang="zh-CN" sz="6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6718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6653428-7309-5F71-7791-FA7E96C035EB}"/>
              </a:ext>
            </a:extLst>
          </p:cNvPr>
          <p:cNvSpPr txBox="1"/>
          <p:nvPr/>
        </p:nvSpPr>
        <p:spPr>
          <a:xfrm>
            <a:off x="704849" y="709048"/>
            <a:ext cx="4639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VAST Challenge 2023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B1C7BC3-4261-3F63-F90B-B6A7C2BC08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3755" y="2408825"/>
            <a:ext cx="3271520" cy="92456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2A9038F-4C2B-AEFE-23C5-768CCF79F9F7}"/>
              </a:ext>
            </a:extLst>
          </p:cNvPr>
          <p:cNvSpPr txBox="1"/>
          <p:nvPr/>
        </p:nvSpPr>
        <p:spPr>
          <a:xfrm>
            <a:off x="1311275" y="37385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非政府组织“鱼眼国际”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A22365D-3D55-B070-73C0-115A62C5C728}"/>
              </a:ext>
            </a:extLst>
          </p:cNvPr>
          <p:cNvCxnSpPr/>
          <p:nvPr/>
        </p:nvCxnSpPr>
        <p:spPr>
          <a:xfrm flipV="1">
            <a:off x="4240489" y="1656238"/>
            <a:ext cx="1456055" cy="979805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2966D25-EAD5-443B-BE14-68DF6346EA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029231" y="1343716"/>
            <a:ext cx="60960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整个捕鱼实体社交网络中找到非法团体</a:t>
            </a:r>
            <a:endParaRPr lang="en-US" altLang="zh-CN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27060C6-5766-9E53-7E9F-AE89D8E89D2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293964" y="3377069"/>
            <a:ext cx="1223645" cy="1030605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F2940F7-E96A-6809-9067-6E2EEDCC3EF7}"/>
              </a:ext>
            </a:extLst>
          </p:cNvPr>
          <p:cNvSpPr txBox="1"/>
          <p:nvPr/>
        </p:nvSpPr>
        <p:spPr>
          <a:xfrm>
            <a:off x="6075028" y="5081358"/>
            <a:ext cx="60960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公司、所有者、工人和财务状况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，找到非法公司</a:t>
            </a:r>
            <a:endParaRPr lang="en-US" altLang="zh-CN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0A8978D-CA3F-2B04-BD43-2939BE4BE4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89650" y="1961785"/>
            <a:ext cx="2552700" cy="1676400"/>
          </a:xfrm>
          <a:prstGeom prst="rect">
            <a:avLst/>
          </a:prstGeom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1C96C7A-A143-3DC7-3332-75849582CBB7}"/>
              </a:ext>
            </a:extLst>
          </p:cNvPr>
          <p:cNvSpPr/>
          <p:nvPr/>
        </p:nvSpPr>
        <p:spPr>
          <a:xfrm>
            <a:off x="5850296" y="733425"/>
            <a:ext cx="5207411" cy="30050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AFAFA"/>
              </a:highlight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2E32C2-2B15-D1DE-3CD1-708C23810648}"/>
              </a:ext>
            </a:extLst>
          </p:cNvPr>
          <p:cNvSpPr txBox="1"/>
          <p:nvPr/>
        </p:nvSpPr>
        <p:spPr>
          <a:xfrm>
            <a:off x="6029231" y="854642"/>
            <a:ext cx="60960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基于异常度累计的非法团体分析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1B84FD2-3F65-0C48-ADEA-5EE3ADA6646D}"/>
              </a:ext>
            </a:extLst>
          </p:cNvPr>
          <p:cNvSpPr/>
          <p:nvPr/>
        </p:nvSpPr>
        <p:spPr>
          <a:xfrm>
            <a:off x="5850296" y="4487609"/>
            <a:ext cx="5533241" cy="1104439"/>
          </a:xfrm>
          <a:prstGeom prst="roundRect">
            <a:avLst>
              <a:gd name="adj" fmla="val 2701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AFAFA"/>
              </a:highlight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B0F828C-C00E-BB22-48F3-A115D8146306}"/>
              </a:ext>
            </a:extLst>
          </p:cNvPr>
          <p:cNvSpPr txBox="1"/>
          <p:nvPr/>
        </p:nvSpPr>
        <p:spPr>
          <a:xfrm>
            <a:off x="6075028" y="4607465"/>
            <a:ext cx="60960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基于相似度分析的非法公司分析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A1597E9-D68D-354C-F2DB-18D1DBA4D6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975" y="4433022"/>
            <a:ext cx="1568531" cy="161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50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CAF792D-2109-235B-7D0E-026B3F0E0A86}"/>
              </a:ext>
            </a:extLst>
          </p:cNvPr>
          <p:cNvSpPr txBox="1"/>
          <p:nvPr/>
        </p:nvSpPr>
        <p:spPr>
          <a:xfrm>
            <a:off x="1240697" y="1885308"/>
            <a:ext cx="9356687" cy="2351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数据量大，有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3429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个节点，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11232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条边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数据不完整，大量节点的国家和类型有缺失值，部分节点的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id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是乱码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关系杂乱，节点的类型有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9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种，边的类型有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种，节点之间可能会有多重边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信息量少，原始数据信息杂乱，没有明确定义“非法”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D00BB8-188F-026B-8BB3-583E3C9EC7B6}"/>
              </a:ext>
            </a:extLst>
          </p:cNvPr>
          <p:cNvSpPr txBox="1"/>
          <p:nvPr/>
        </p:nvSpPr>
        <p:spPr>
          <a:xfrm>
            <a:off x="876300" y="771525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难点</a:t>
            </a:r>
          </a:p>
        </p:txBody>
      </p:sp>
    </p:spTree>
    <p:extLst>
      <p:ext uri="{BB962C8B-B14F-4D97-AF65-F5344CB8AC3E}">
        <p14:creationId xmlns:p14="http://schemas.microsoft.com/office/powerpoint/2010/main" val="4817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D00BB8-188F-026B-8BB3-583E3C9EC7B6}"/>
              </a:ext>
            </a:extLst>
          </p:cNvPr>
          <p:cNvSpPr txBox="1"/>
          <p:nvPr/>
        </p:nvSpPr>
        <p:spPr>
          <a:xfrm>
            <a:off x="876300" y="771525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具体步骤</a:t>
            </a:r>
          </a:p>
        </p:txBody>
      </p:sp>
      <p:grpSp>
        <p:nvGrpSpPr>
          <p:cNvPr id="4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6663F59-F328-4C67-EF41-D7AF7D77ECC2}"/>
              </a:ext>
            </a:extLst>
          </p:cNvPr>
          <p:cNvGrpSpPr/>
          <p:nvPr/>
        </p:nvGrpSpPr>
        <p:grpSpPr bwMode="auto">
          <a:xfrm>
            <a:off x="7757834" y="2819400"/>
            <a:ext cx="2041172" cy="1967442"/>
            <a:chOff x="0" y="0"/>
            <a:chExt cx="1671177" cy="1609411"/>
          </a:xfrm>
          <a:solidFill>
            <a:schemeClr val="accent1"/>
          </a:solidFill>
          <a:effectLst/>
        </p:grpSpPr>
        <p:sp>
          <p:nvSpPr>
            <p:cNvPr id="5" name="powerpoint template design by DAJU_PPT正版来源小红书大橘PPT微信DAJU_PPT请勿抄袭搬运！盗版必究！-1">
              <a:extLst>
                <a:ext uri="{FF2B5EF4-FFF2-40B4-BE49-F238E27FC236}">
                  <a16:creationId xmlns:a16="http://schemas.microsoft.com/office/drawing/2014/main" id="{E7E7CE06-D843-55DE-C128-8194FC03A8BB}"/>
                </a:ext>
              </a:extLst>
            </p:cNvPr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>
                <a:cs typeface="+mn-ea"/>
                <a:sym typeface="+mn-lt"/>
              </a:endParaRPr>
            </a:p>
          </p:txBody>
        </p:sp>
        <p:sp>
          <p:nvSpPr>
            <p:cNvPr id="6" name="powerpoint template design by DAJU_PPT正版来源小红书大橘PPT微信DAJU_PPT请勿抄袭搬运！盗版必究！-2">
              <a:extLst>
                <a:ext uri="{FF2B5EF4-FFF2-40B4-BE49-F238E27FC236}">
                  <a16:creationId xmlns:a16="http://schemas.microsoft.com/office/drawing/2014/main" id="{15B560D5-99BE-8D73-3110-E82F5C21F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41" y="543095"/>
              <a:ext cx="569859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05</a:t>
              </a:r>
              <a:endParaRPr lang="zh-CN" altLang="en-US" sz="342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87A0E53-339D-EA23-E7E0-CC677F16F48C}"/>
              </a:ext>
            </a:extLst>
          </p:cNvPr>
          <p:cNvGrpSpPr/>
          <p:nvPr/>
        </p:nvGrpSpPr>
        <p:grpSpPr bwMode="auto">
          <a:xfrm>
            <a:off x="6103225" y="2819400"/>
            <a:ext cx="2041924" cy="1967442"/>
            <a:chOff x="0" y="0"/>
            <a:chExt cx="1671177" cy="1609411"/>
          </a:xfrm>
          <a:solidFill>
            <a:schemeClr val="accent2"/>
          </a:solidFill>
        </p:grpSpPr>
        <p:sp>
          <p:nvSpPr>
            <p:cNvPr id="8" name="powerpoint template design by DAJU_PPT正版来源小红书大橘PPT微信DAJU_PPT请勿抄袭搬运！盗版必究！-1">
              <a:extLst>
                <a:ext uri="{FF2B5EF4-FFF2-40B4-BE49-F238E27FC236}">
                  <a16:creationId xmlns:a16="http://schemas.microsoft.com/office/drawing/2014/main" id="{5C410BDD-36C1-C44F-8D48-371FAA03E157}"/>
                </a:ext>
              </a:extLst>
            </p:cNvPr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>
                <a:cs typeface="+mn-ea"/>
                <a:sym typeface="+mn-lt"/>
              </a:endParaRPr>
            </a:p>
          </p:txBody>
        </p:sp>
        <p:sp>
          <p:nvSpPr>
            <p:cNvPr id="9" name="powerpoint template design by DAJU_PPT正版来源小红书大橘PPT微信DAJU_PPT请勿抄袭搬运！盗版必究！-2">
              <a:extLst>
                <a:ext uri="{FF2B5EF4-FFF2-40B4-BE49-F238E27FC236}">
                  <a16:creationId xmlns:a16="http://schemas.microsoft.com/office/drawing/2014/main" id="{4AD99E7B-8F4F-D025-E059-C65832A80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551" y="543095"/>
              <a:ext cx="549969" cy="5060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zh-CN" altLang="en-US" sz="342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FA5E455-F827-F4C2-A3BF-0A1CA21D1A4A}"/>
              </a:ext>
            </a:extLst>
          </p:cNvPr>
          <p:cNvGrpSpPr/>
          <p:nvPr/>
        </p:nvGrpSpPr>
        <p:grpSpPr bwMode="auto">
          <a:xfrm>
            <a:off x="4448619" y="2819400"/>
            <a:ext cx="2041922" cy="1967442"/>
            <a:chOff x="0" y="0"/>
            <a:chExt cx="1671177" cy="1609411"/>
          </a:xfrm>
          <a:solidFill>
            <a:schemeClr val="accent1"/>
          </a:solidFill>
          <a:effectLst/>
        </p:grpSpPr>
        <p:sp>
          <p:nvSpPr>
            <p:cNvPr id="11" name="powerpoint template design by DAJU_PPT正版来源小红书大橘PPT微信DAJU_PPT请勿抄袭搬运！盗版必究！-1">
              <a:extLst>
                <a:ext uri="{FF2B5EF4-FFF2-40B4-BE49-F238E27FC236}">
                  <a16:creationId xmlns:a16="http://schemas.microsoft.com/office/drawing/2014/main" id="{9BE142C5-8A3E-948B-CED0-15E9E1AE129B}"/>
                </a:ext>
              </a:extLst>
            </p:cNvPr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>
                <a:cs typeface="+mn-ea"/>
                <a:sym typeface="+mn-lt"/>
              </a:endParaRPr>
            </a:p>
          </p:txBody>
        </p:sp>
        <p:sp>
          <p:nvSpPr>
            <p:cNvPr id="12" name="powerpoint template design by DAJU_PPT正版来源小红书大橘PPT微信DAJU_PPT请勿抄袭搬运！盗版必究！-2">
              <a:extLst>
                <a:ext uri="{FF2B5EF4-FFF2-40B4-BE49-F238E27FC236}">
                  <a16:creationId xmlns:a16="http://schemas.microsoft.com/office/drawing/2014/main" id="{1E3C4F07-1545-ABFE-CD75-1CB329377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551" y="543095"/>
              <a:ext cx="570961" cy="5060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zh-CN" altLang="en-US" sz="342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7E833E8-B101-CCFF-2541-F703A8A8B737}"/>
              </a:ext>
            </a:extLst>
          </p:cNvPr>
          <p:cNvGrpSpPr/>
          <p:nvPr/>
        </p:nvGrpSpPr>
        <p:grpSpPr bwMode="auto">
          <a:xfrm>
            <a:off x="2794010" y="2819400"/>
            <a:ext cx="2041924" cy="1967442"/>
            <a:chOff x="0" y="0"/>
            <a:chExt cx="1671177" cy="1609411"/>
          </a:xfrm>
          <a:solidFill>
            <a:schemeClr val="accent2"/>
          </a:solidFill>
        </p:grpSpPr>
        <p:sp>
          <p:nvSpPr>
            <p:cNvPr id="14" name="powerpoint template design by DAJU_PPT正版来源小红书大橘PPT微信DAJU_PPT请勿抄袭搬运！盗版必究！-1">
              <a:extLst>
                <a:ext uri="{FF2B5EF4-FFF2-40B4-BE49-F238E27FC236}">
                  <a16:creationId xmlns:a16="http://schemas.microsoft.com/office/drawing/2014/main" id="{CE888967-1511-4A73-DADD-5E72CEFA58A4}"/>
                </a:ext>
              </a:extLst>
            </p:cNvPr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>
                <a:cs typeface="+mn-ea"/>
                <a:sym typeface="+mn-lt"/>
              </a:endParaRPr>
            </a:p>
          </p:txBody>
        </p:sp>
        <p:sp>
          <p:nvSpPr>
            <p:cNvPr id="15" name="powerpoint template design by DAJU_PPT正版来源小红书大橘PPT微信DAJU_PPT请勿抄袭搬运！盗版必究！-2">
              <a:extLst>
                <a:ext uri="{FF2B5EF4-FFF2-40B4-BE49-F238E27FC236}">
                  <a16:creationId xmlns:a16="http://schemas.microsoft.com/office/drawing/2014/main" id="{1D5549A7-A7E7-E2F8-59CF-4C62B9E2A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551" y="543095"/>
              <a:ext cx="568337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zh-CN" altLang="en-US" sz="342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A739002-343D-7186-384B-C520AA7B3D9A}"/>
              </a:ext>
            </a:extLst>
          </p:cNvPr>
          <p:cNvGrpSpPr/>
          <p:nvPr/>
        </p:nvGrpSpPr>
        <p:grpSpPr bwMode="auto">
          <a:xfrm>
            <a:off x="1137574" y="2819400"/>
            <a:ext cx="2043752" cy="1967442"/>
            <a:chOff x="0" y="0"/>
            <a:chExt cx="1671177" cy="1609411"/>
          </a:xfrm>
          <a:solidFill>
            <a:schemeClr val="accent1"/>
          </a:solidFill>
          <a:effectLst/>
        </p:grpSpPr>
        <p:sp>
          <p:nvSpPr>
            <p:cNvPr id="17" name="powerpoint template design by DAJU_PPT正版来源小红书大橘PPT微信DAJU_PPT请勿抄袭搬运！盗版必究！-1">
              <a:extLst>
                <a:ext uri="{FF2B5EF4-FFF2-40B4-BE49-F238E27FC236}">
                  <a16:creationId xmlns:a16="http://schemas.microsoft.com/office/drawing/2014/main" id="{488E8945-1603-F6DA-FCBE-733502231A98}"/>
                </a:ext>
              </a:extLst>
            </p:cNvPr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 dirty="0">
                <a:cs typeface="+mn-ea"/>
                <a:sym typeface="+mn-lt"/>
              </a:endParaRPr>
            </a:p>
          </p:txBody>
        </p:sp>
        <p:sp>
          <p:nvSpPr>
            <p:cNvPr id="18" name="powerpoint template design by DAJU_PPT正版来源小红书大橘PPT微信DAJU_PPT请勿抄袭搬运！盗版必究！-2">
              <a:extLst>
                <a:ext uri="{FF2B5EF4-FFF2-40B4-BE49-F238E27FC236}">
                  <a16:creationId xmlns:a16="http://schemas.microsoft.com/office/drawing/2014/main" id="{B3E50115-59A6-A271-75F7-C91EDA922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551" y="543095"/>
              <a:ext cx="567828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zh-CN" altLang="en-US" sz="342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cxnSp>
        <p:nvCxnSpPr>
          <p:cNvPr id="19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35F3085-5F8B-FEAA-0BE5-BEC6777F227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09138" y="1940454"/>
            <a:ext cx="0" cy="1069093"/>
          </a:xfrm>
          <a:prstGeom prst="line">
            <a:avLst/>
          </a:prstGeom>
          <a:noFill/>
          <a:ln w="6350">
            <a:solidFill>
              <a:schemeClr val="accent1"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78630EB-306F-547C-B65C-2CF83C352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347" y="1687925"/>
            <a:ext cx="2788021" cy="78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103630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cs typeface="+mn-ea"/>
                <a:sym typeface="+mn-lt"/>
              </a:rPr>
              <a:t>数据处理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数据清洗、整合和预处理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E19331A-1B91-7046-440A-27973861808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93315" y="4713111"/>
            <a:ext cx="0" cy="1069092"/>
          </a:xfrm>
          <a:prstGeom prst="line">
            <a:avLst/>
          </a:prstGeom>
          <a:noFill/>
          <a:ln w="6350">
            <a:solidFill>
              <a:schemeClr val="accent2"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E24C75F-D716-7640-E93B-A67B26BCA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851" y="4907817"/>
            <a:ext cx="2788021" cy="11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103630">
              <a:lnSpc>
                <a:spcPct val="150000"/>
              </a:lnSpc>
              <a:defRPr/>
            </a:pPr>
            <a:r>
              <a:rPr lang="zh-CN" altLang="en-US" sz="1600" b="1" i="0" dirty="0">
                <a:solidFill>
                  <a:srgbClr val="FF0000"/>
                </a:solidFill>
                <a:effectLst/>
                <a:latin typeface="Söhne"/>
              </a:rPr>
              <a:t>交互式网络图生成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：筛选节点和边的类型，通过节点</a:t>
            </a:r>
            <a:r>
              <a:rPr lang="en-US" altLang="zh-CN" sz="1600" b="0" i="0" dirty="0">
                <a:solidFill>
                  <a:srgbClr val="374151"/>
                </a:solidFill>
                <a:effectLst/>
                <a:latin typeface="Söhne"/>
              </a:rPr>
              <a:t>id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画出网络图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1F00AAA-2359-10DE-F728-1AF581D2C24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65501" y="1940454"/>
            <a:ext cx="0" cy="1069093"/>
          </a:xfrm>
          <a:prstGeom prst="line">
            <a:avLst/>
          </a:prstGeom>
          <a:noFill/>
          <a:ln w="6350">
            <a:solidFill>
              <a:schemeClr val="accent1"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1B749F1-EB42-24E8-51AF-0BE9DFA6C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527" y="1688214"/>
            <a:ext cx="2788020" cy="11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103630">
              <a:lnSpc>
                <a:spcPct val="150000"/>
              </a:lnSpc>
              <a:defRPr/>
            </a:pPr>
            <a:r>
              <a:rPr lang="zh-CN" altLang="en-US" sz="1600" b="1" i="0" dirty="0">
                <a:solidFill>
                  <a:srgbClr val="FF0000"/>
                </a:solidFill>
                <a:effectLst/>
                <a:latin typeface="Söhne"/>
              </a:rPr>
              <a:t>节点和边的详细信息展示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：点击节点查看信息</a:t>
            </a:r>
            <a:r>
              <a:rPr lang="zh-CN" altLang="en-US" sz="1600" dirty="0">
                <a:solidFill>
                  <a:srgbClr val="374151"/>
                </a:solidFill>
                <a:latin typeface="Söhne"/>
              </a:rPr>
              <a:t>，添加节点到怀疑集合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25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7908F04-D3F4-61F6-4C69-268CD068917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349676" y="4713111"/>
            <a:ext cx="0" cy="1069092"/>
          </a:xfrm>
          <a:prstGeom prst="line">
            <a:avLst/>
          </a:prstGeom>
          <a:noFill/>
          <a:ln w="6350">
            <a:solidFill>
              <a:schemeClr val="accent2"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9488987-F2C3-8D99-7B30-A99444892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13" y="4907817"/>
            <a:ext cx="2788021" cy="78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103630">
              <a:lnSpc>
                <a:spcPct val="150000"/>
              </a:lnSpc>
              <a:defRPr/>
            </a:pPr>
            <a:r>
              <a:rPr lang="zh-CN" altLang="en-US" sz="1600" b="1" i="0" dirty="0">
                <a:solidFill>
                  <a:srgbClr val="FF0000"/>
                </a:solidFill>
                <a:effectLst/>
                <a:latin typeface="Söhne"/>
              </a:rPr>
              <a:t>统计信息可视化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：使用饼图展示节点和边的统计信息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2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A39F48C-F7E1-E37D-59C1-ACD893C079C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021862" y="1940454"/>
            <a:ext cx="0" cy="1069093"/>
          </a:xfrm>
          <a:prstGeom prst="line">
            <a:avLst/>
          </a:prstGeom>
          <a:noFill/>
          <a:ln w="6350">
            <a:solidFill>
              <a:schemeClr val="accent1"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DB05A92-8008-D142-9DF4-48BB64FCB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886" y="1658889"/>
            <a:ext cx="2788021" cy="1160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103630">
              <a:lnSpc>
                <a:spcPct val="150000"/>
              </a:lnSpc>
              <a:defRPr/>
            </a:pPr>
            <a:r>
              <a:rPr lang="zh-CN" altLang="en-US" sz="1600" b="1" i="0" dirty="0">
                <a:solidFill>
                  <a:srgbClr val="FF0000"/>
                </a:solidFill>
                <a:effectLst/>
                <a:latin typeface="Söhne"/>
              </a:rPr>
              <a:t>异常度评估系统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：用户设置评估方法</a:t>
            </a:r>
            <a:r>
              <a:rPr lang="zh-CN" altLang="en-US" sz="1600" dirty="0">
                <a:solidFill>
                  <a:srgbClr val="374151"/>
                </a:solidFill>
                <a:latin typeface="Söhne"/>
              </a:rPr>
              <a:t>的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权值和</a:t>
            </a:r>
            <a:r>
              <a:rPr lang="en-US" altLang="zh-CN" sz="1600" b="0" i="0" dirty="0">
                <a:solidFill>
                  <a:srgbClr val="374151"/>
                </a:solidFill>
                <a:effectLst/>
                <a:latin typeface="Söhne"/>
              </a:rPr>
              <a:t>k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值，系统返回异常度最高的前</a:t>
            </a:r>
            <a:r>
              <a:rPr lang="en-US" altLang="zh-CN" sz="1600" b="0" i="0" dirty="0">
                <a:solidFill>
                  <a:srgbClr val="374151"/>
                </a:solidFill>
                <a:effectLst/>
                <a:latin typeface="Söhne"/>
              </a:rPr>
              <a:t>k</a:t>
            </a:r>
            <a:r>
              <a:rPr lang="zh-CN" altLang="en-US" sz="1600" b="0" i="0" dirty="0">
                <a:solidFill>
                  <a:srgbClr val="374151"/>
                </a:solidFill>
                <a:effectLst/>
                <a:latin typeface="Söhne"/>
              </a:rPr>
              <a:t>个节点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6725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C071B70-9FE8-6D37-2472-DCD0EFC9DE52}"/>
              </a:ext>
            </a:extLst>
          </p:cNvPr>
          <p:cNvSpPr txBox="1"/>
          <p:nvPr/>
        </p:nvSpPr>
        <p:spPr>
          <a:xfrm>
            <a:off x="876300" y="771525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异常度建模</a:t>
            </a:r>
          </a:p>
        </p:txBody>
      </p:sp>
      <p:sp>
        <p:nvSpPr>
          <p:cNvPr id="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EA7ED0F-A38A-4594-E641-BCDE0436217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76300" y="1951469"/>
            <a:ext cx="9639300" cy="1543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每一个节点设置一个异常度，经过多重评判标准，逐次增加每个节点的异常度，找出异常度最高的几个节点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返回异常度前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个节点</a:t>
            </a:r>
          </a:p>
        </p:txBody>
      </p:sp>
      <p:sp>
        <p:nvSpPr>
          <p:cNvPr id="18" name="TextBox 198">
            <a:extLst>
              <a:ext uri="{FF2B5EF4-FFF2-40B4-BE49-F238E27FC236}">
                <a16:creationId xmlns:a16="http://schemas.microsoft.com/office/drawing/2014/main" id="{8FC7BB90-0CAB-0255-C94F-DC5B1EEE4BE2}"/>
              </a:ext>
            </a:extLst>
          </p:cNvPr>
          <p:cNvSpPr txBox="1"/>
          <p:nvPr/>
        </p:nvSpPr>
        <p:spPr>
          <a:xfrm>
            <a:off x="5323123" y="3679431"/>
            <a:ext cx="157374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defTabSz="1218565">
              <a:defRPr/>
            </a:pPr>
            <a:r>
              <a:rPr lang="zh-CN" altLang="en-US" sz="2400" kern="0" dirty="0">
                <a:solidFill>
                  <a:prstClr val="white"/>
                </a:solidFill>
                <a:latin typeface="微软雅黑 Light" panose="020B0502040204020203" charset="-122"/>
                <a:ea typeface="方正兰亭细黑_GBK"/>
                <a:cs typeface="+mn-ea"/>
                <a:sym typeface="+mn-lt"/>
              </a:rPr>
              <a:t>可疑度判别模型</a:t>
            </a:r>
          </a:p>
        </p:txBody>
      </p:sp>
    </p:spTree>
    <p:extLst>
      <p:ext uri="{BB962C8B-B14F-4D97-AF65-F5344CB8AC3E}">
        <p14:creationId xmlns:p14="http://schemas.microsoft.com/office/powerpoint/2010/main" val="190325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C071B70-9FE8-6D37-2472-DCD0EFC9DE52}"/>
              </a:ext>
            </a:extLst>
          </p:cNvPr>
          <p:cNvSpPr txBox="1"/>
          <p:nvPr/>
        </p:nvSpPr>
        <p:spPr>
          <a:xfrm>
            <a:off x="876300" y="771525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异常度建模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1C1BA71-929A-526F-FD00-94AF0EE80A93}"/>
              </a:ext>
            </a:extLst>
          </p:cNvPr>
          <p:cNvGrpSpPr/>
          <p:nvPr/>
        </p:nvGrpSpPr>
        <p:grpSpPr>
          <a:xfrm>
            <a:off x="4250330" y="1981300"/>
            <a:ext cx="3553383" cy="4149133"/>
            <a:chOff x="3143150" y="1589878"/>
            <a:chExt cx="2665860" cy="3112810"/>
          </a:xfrm>
          <a:solidFill>
            <a:schemeClr val="accent1"/>
          </a:solidFill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D41DC75-6A51-CD28-9971-E306DCF3724F}"/>
                </a:ext>
              </a:extLst>
            </p:cNvPr>
            <p:cNvGrpSpPr/>
            <p:nvPr/>
          </p:nvGrpSpPr>
          <p:grpSpPr>
            <a:xfrm>
              <a:off x="3143150" y="1589878"/>
              <a:ext cx="2665860" cy="3112810"/>
              <a:chOff x="3250939" y="1851011"/>
              <a:chExt cx="2448000" cy="2858424"/>
            </a:xfrm>
            <a:grpFill/>
          </p:grpSpPr>
          <p:sp>
            <p:nvSpPr>
              <p:cNvPr id="15" name="等腰三角形 14">
                <a:extLst>
                  <a:ext uri="{FF2B5EF4-FFF2-40B4-BE49-F238E27FC236}">
                    <a16:creationId xmlns:a16="http://schemas.microsoft.com/office/drawing/2014/main" id="{AE2C3970-4883-575F-9D46-0CEE37BA2871}"/>
                  </a:ext>
                </a:extLst>
              </p:cNvPr>
              <p:cNvSpPr/>
              <p:nvPr/>
            </p:nvSpPr>
            <p:spPr>
              <a:xfrm flipV="1">
                <a:off x="3250939" y="2567435"/>
                <a:ext cx="2448000" cy="2142000"/>
              </a:xfrm>
              <a:prstGeom prst="triangle">
                <a:avLst/>
              </a:prstGeom>
              <a:grpFill/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18565">
                  <a:defRPr/>
                </a:pPr>
                <a:endParaRPr lang="zh-CN" altLang="en-US" sz="2400" kern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等腰三角形 15">
                <a:extLst>
                  <a:ext uri="{FF2B5EF4-FFF2-40B4-BE49-F238E27FC236}">
                    <a16:creationId xmlns:a16="http://schemas.microsoft.com/office/drawing/2014/main" id="{36C3BC4D-FC99-F4B7-7AFA-9BFA19B5EE60}"/>
                  </a:ext>
                </a:extLst>
              </p:cNvPr>
              <p:cNvSpPr/>
              <p:nvPr/>
            </p:nvSpPr>
            <p:spPr>
              <a:xfrm>
                <a:off x="3250939" y="1851011"/>
                <a:ext cx="2448000" cy="2142000"/>
              </a:xfrm>
              <a:prstGeom prst="triangle">
                <a:avLst/>
              </a:prstGeom>
              <a:grpFill/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18565">
                  <a:defRPr/>
                </a:pPr>
                <a:endParaRPr lang="zh-CN" altLang="en-US" sz="2400" kern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7" name="TextBox 189">
              <a:extLst>
                <a:ext uri="{FF2B5EF4-FFF2-40B4-BE49-F238E27FC236}">
                  <a16:creationId xmlns:a16="http://schemas.microsoft.com/office/drawing/2014/main" id="{EF45C96B-6608-46A2-0617-9CFA229BFDCE}"/>
                </a:ext>
              </a:extLst>
            </p:cNvPr>
            <p:cNvSpPr txBox="1"/>
            <p:nvPr/>
          </p:nvSpPr>
          <p:spPr>
            <a:xfrm>
              <a:off x="4308447" y="1911755"/>
              <a:ext cx="335266" cy="277084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ctr" defTabSz="1218565"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cs typeface="+mn-ea"/>
                  <a:sym typeface="+mn-lt"/>
                </a:rPr>
                <a:t>1</a:t>
              </a:r>
              <a:endParaRPr lang="zh-CN" altLang="en-US" sz="2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9" name="TextBox 190">
              <a:extLst>
                <a:ext uri="{FF2B5EF4-FFF2-40B4-BE49-F238E27FC236}">
                  <a16:creationId xmlns:a16="http://schemas.microsoft.com/office/drawing/2014/main" id="{B5BF2B9C-3D2F-3AFF-DFB6-9DD68CD08FB0}"/>
                </a:ext>
              </a:extLst>
            </p:cNvPr>
            <p:cNvSpPr txBox="1"/>
            <p:nvPr/>
          </p:nvSpPr>
          <p:spPr>
            <a:xfrm>
              <a:off x="5231308" y="2412532"/>
              <a:ext cx="335266" cy="277084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ctr" defTabSz="1218565"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cs typeface="+mn-ea"/>
                  <a:sym typeface="+mn-lt"/>
                </a:rPr>
                <a:t>6</a:t>
              </a:r>
              <a:endParaRPr lang="zh-CN" altLang="en-US" sz="2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1" name="TextBox 191">
              <a:extLst>
                <a:ext uri="{FF2B5EF4-FFF2-40B4-BE49-F238E27FC236}">
                  <a16:creationId xmlns:a16="http://schemas.microsoft.com/office/drawing/2014/main" id="{E855D8D4-BDD6-AAFA-CCA5-1691677ACB39}"/>
                </a:ext>
              </a:extLst>
            </p:cNvPr>
            <p:cNvSpPr txBox="1"/>
            <p:nvPr/>
          </p:nvSpPr>
          <p:spPr>
            <a:xfrm>
              <a:off x="5231308" y="3526948"/>
              <a:ext cx="335266" cy="277084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ctr" defTabSz="1218565"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cs typeface="+mn-ea"/>
                  <a:sym typeface="+mn-lt"/>
                </a:rPr>
                <a:t>5</a:t>
              </a:r>
              <a:endParaRPr lang="zh-CN" altLang="en-US" sz="2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2" name="TextBox 192">
              <a:extLst>
                <a:ext uri="{FF2B5EF4-FFF2-40B4-BE49-F238E27FC236}">
                  <a16:creationId xmlns:a16="http://schemas.microsoft.com/office/drawing/2014/main" id="{C9EA0927-7D11-735D-CE4C-449DD4F4E9E1}"/>
                </a:ext>
              </a:extLst>
            </p:cNvPr>
            <p:cNvSpPr txBox="1"/>
            <p:nvPr/>
          </p:nvSpPr>
          <p:spPr>
            <a:xfrm>
              <a:off x="4308447" y="4088289"/>
              <a:ext cx="335266" cy="277084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ctr" defTabSz="1218565"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cs typeface="+mn-ea"/>
                  <a:sym typeface="+mn-lt"/>
                </a:rPr>
                <a:t>4</a:t>
              </a:r>
              <a:endParaRPr lang="zh-CN" altLang="en-US" sz="2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3" name="TextBox 193">
              <a:extLst>
                <a:ext uri="{FF2B5EF4-FFF2-40B4-BE49-F238E27FC236}">
                  <a16:creationId xmlns:a16="http://schemas.microsoft.com/office/drawing/2014/main" id="{08C47108-B33E-E7D3-7F07-E3A209583F72}"/>
                </a:ext>
              </a:extLst>
            </p:cNvPr>
            <p:cNvSpPr txBox="1"/>
            <p:nvPr/>
          </p:nvSpPr>
          <p:spPr>
            <a:xfrm>
              <a:off x="3383720" y="3565383"/>
              <a:ext cx="335266" cy="277084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ctr" defTabSz="1218565"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cs typeface="+mn-ea"/>
                  <a:sym typeface="+mn-lt"/>
                </a:rPr>
                <a:t>3</a:t>
              </a:r>
              <a:endParaRPr lang="zh-CN" altLang="en-US" sz="2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4" name="TextBox 194">
              <a:extLst>
                <a:ext uri="{FF2B5EF4-FFF2-40B4-BE49-F238E27FC236}">
                  <a16:creationId xmlns:a16="http://schemas.microsoft.com/office/drawing/2014/main" id="{DA961E64-874D-0E2F-CDBF-6472EBAB1DC1}"/>
                </a:ext>
              </a:extLst>
            </p:cNvPr>
            <p:cNvSpPr txBox="1"/>
            <p:nvPr/>
          </p:nvSpPr>
          <p:spPr>
            <a:xfrm>
              <a:off x="3383720" y="2458260"/>
              <a:ext cx="335266" cy="277084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ctr" defTabSz="1218565">
                <a:defRPr/>
              </a:pPr>
              <a:r>
                <a:rPr lang="en-US" altLang="zh-CN" sz="2400" kern="0" dirty="0">
                  <a:solidFill>
                    <a:prstClr val="white"/>
                  </a:solidFill>
                  <a:cs typeface="+mn-ea"/>
                  <a:sym typeface="+mn-lt"/>
                </a:rPr>
                <a:t>2</a:t>
              </a:r>
              <a:endParaRPr lang="zh-CN" altLang="en-US" sz="2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Freeform 5">
            <a:extLst>
              <a:ext uri="{FF2B5EF4-FFF2-40B4-BE49-F238E27FC236}">
                <a16:creationId xmlns:a16="http://schemas.microsoft.com/office/drawing/2014/main" id="{4F01F3F8-8915-4076-C08D-C43C5E4045E2}"/>
              </a:ext>
            </a:extLst>
          </p:cNvPr>
          <p:cNvSpPr/>
          <p:nvPr/>
        </p:nvSpPr>
        <p:spPr bwMode="auto">
          <a:xfrm>
            <a:off x="4842227" y="3033923"/>
            <a:ext cx="2369589" cy="2069287"/>
          </a:xfrm>
          <a:custGeom>
            <a:avLst/>
            <a:gdLst>
              <a:gd name="T0" fmla="*/ 2394 w 3192"/>
              <a:gd name="T1" fmla="*/ 0 h 2765"/>
              <a:gd name="T2" fmla="*/ 3192 w 3192"/>
              <a:gd name="T3" fmla="*/ 1382 h 2765"/>
              <a:gd name="T4" fmla="*/ 2394 w 3192"/>
              <a:gd name="T5" fmla="*/ 2765 h 2765"/>
              <a:gd name="T6" fmla="*/ 798 w 3192"/>
              <a:gd name="T7" fmla="*/ 2765 h 2765"/>
              <a:gd name="T8" fmla="*/ 0 w 3192"/>
              <a:gd name="T9" fmla="*/ 1382 h 2765"/>
              <a:gd name="T10" fmla="*/ 798 w 3192"/>
              <a:gd name="T11" fmla="*/ 0 h 2765"/>
              <a:gd name="T12" fmla="*/ 2394 w 3192"/>
              <a:gd name="T13" fmla="*/ 0 h 2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92" h="2765">
                <a:moveTo>
                  <a:pt x="2394" y="0"/>
                </a:moveTo>
                <a:lnTo>
                  <a:pt x="3192" y="1382"/>
                </a:lnTo>
                <a:lnTo>
                  <a:pt x="2394" y="2765"/>
                </a:lnTo>
                <a:lnTo>
                  <a:pt x="798" y="2765"/>
                </a:lnTo>
                <a:lnTo>
                  <a:pt x="0" y="1382"/>
                </a:lnTo>
                <a:lnTo>
                  <a:pt x="798" y="0"/>
                </a:lnTo>
                <a:lnTo>
                  <a:pt x="239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" cap="flat">
            <a:noFill/>
            <a:prstDash val="solid"/>
            <a:miter lim="800000"/>
          </a:ln>
        </p:spPr>
        <p:txBody>
          <a:bodyPr vert="horz" wrap="square" lIns="121882" tIns="60941" rIns="121882" bIns="60941" numCol="1" anchor="t" anchorCtr="0" compatLnSpc="1"/>
          <a:lstStyle/>
          <a:p>
            <a:pPr algn="ctr" defTabSz="1218565">
              <a:defRPr/>
            </a:pPr>
            <a:endParaRPr lang="zh-CN" altLang="en-US" sz="2400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8" name="TextBox 198">
            <a:extLst>
              <a:ext uri="{FF2B5EF4-FFF2-40B4-BE49-F238E27FC236}">
                <a16:creationId xmlns:a16="http://schemas.microsoft.com/office/drawing/2014/main" id="{8FC7BB90-0CAB-0255-C94F-DC5B1EEE4BE2}"/>
              </a:ext>
            </a:extLst>
          </p:cNvPr>
          <p:cNvSpPr txBox="1"/>
          <p:nvPr/>
        </p:nvSpPr>
        <p:spPr>
          <a:xfrm>
            <a:off x="5323123" y="3679431"/>
            <a:ext cx="157374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defTabSz="1218565">
              <a:defRPr/>
            </a:pPr>
            <a:r>
              <a:rPr lang="zh-CN" altLang="en-US" sz="2400" kern="0" dirty="0">
                <a:solidFill>
                  <a:prstClr val="white"/>
                </a:solidFill>
                <a:latin typeface="微软雅黑 Light" panose="020B0502040204020203" charset="-122"/>
                <a:ea typeface="方正兰亭细黑_GBK"/>
                <a:cs typeface="+mn-ea"/>
                <a:sym typeface="+mn-lt"/>
              </a:rPr>
              <a:t>可疑度判别模型</a:t>
            </a:r>
          </a:p>
        </p:txBody>
      </p:sp>
      <p:sp>
        <p:nvSpPr>
          <p:cNvPr id="19" name="TextBox 199">
            <a:extLst>
              <a:ext uri="{FF2B5EF4-FFF2-40B4-BE49-F238E27FC236}">
                <a16:creationId xmlns:a16="http://schemas.microsoft.com/office/drawing/2014/main" id="{A45ECDA8-CBF4-F3FC-0C84-21298CE1D8AB}"/>
              </a:ext>
            </a:extLst>
          </p:cNvPr>
          <p:cNvSpPr txBox="1"/>
          <p:nvPr/>
        </p:nvSpPr>
        <p:spPr>
          <a:xfrm>
            <a:off x="2256079" y="2330637"/>
            <a:ext cx="283376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8565">
              <a:defRPr/>
            </a:pPr>
            <a:r>
              <a:rPr lang="zh-CN" altLang="en-US" sz="2000" kern="0" dirty="0">
                <a:cs typeface="+mn-ea"/>
                <a:sym typeface="+mn-lt"/>
              </a:rPr>
              <a:t>局部社区</a:t>
            </a:r>
          </a:p>
        </p:txBody>
      </p:sp>
      <p:sp>
        <p:nvSpPr>
          <p:cNvPr id="20" name="TextBox 201">
            <a:extLst>
              <a:ext uri="{FF2B5EF4-FFF2-40B4-BE49-F238E27FC236}">
                <a16:creationId xmlns:a16="http://schemas.microsoft.com/office/drawing/2014/main" id="{AE075BE8-4039-3A2F-B1E4-704EA429FFC5}"/>
              </a:ext>
            </a:extLst>
          </p:cNvPr>
          <p:cNvSpPr txBox="1"/>
          <p:nvPr/>
        </p:nvSpPr>
        <p:spPr>
          <a:xfrm>
            <a:off x="8458419" y="3380863"/>
            <a:ext cx="283376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8565">
              <a:defRPr/>
            </a:pPr>
            <a:r>
              <a:rPr lang="zh-CN" altLang="en-US" sz="2000" kern="0" dirty="0">
                <a:cs typeface="+mn-ea"/>
                <a:sym typeface="+mn-lt"/>
              </a:rPr>
              <a:t>船只关联性</a:t>
            </a:r>
          </a:p>
        </p:txBody>
      </p:sp>
      <p:sp>
        <p:nvSpPr>
          <p:cNvPr id="21" name="TextBox 203">
            <a:extLst>
              <a:ext uri="{FF2B5EF4-FFF2-40B4-BE49-F238E27FC236}">
                <a16:creationId xmlns:a16="http://schemas.microsoft.com/office/drawing/2014/main" id="{729D9195-FF6A-D063-090B-6F3CD1983F1C}"/>
              </a:ext>
            </a:extLst>
          </p:cNvPr>
          <p:cNvSpPr txBox="1"/>
          <p:nvPr/>
        </p:nvSpPr>
        <p:spPr>
          <a:xfrm>
            <a:off x="8458419" y="5022864"/>
            <a:ext cx="283376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8565">
              <a:defRPr/>
            </a:pPr>
            <a:r>
              <a:rPr lang="zh-CN" altLang="en-US" sz="2000" kern="0" dirty="0">
                <a:cs typeface="+mn-ea"/>
                <a:sym typeface="+mn-lt"/>
              </a:rPr>
              <a:t>幂律分布</a:t>
            </a:r>
          </a:p>
        </p:txBody>
      </p:sp>
      <p:sp>
        <p:nvSpPr>
          <p:cNvPr id="22" name="TextBox 205">
            <a:extLst>
              <a:ext uri="{FF2B5EF4-FFF2-40B4-BE49-F238E27FC236}">
                <a16:creationId xmlns:a16="http://schemas.microsoft.com/office/drawing/2014/main" id="{107835B9-298A-433E-99BD-7609930B650C}"/>
              </a:ext>
            </a:extLst>
          </p:cNvPr>
          <p:cNvSpPr txBox="1"/>
          <p:nvPr/>
        </p:nvSpPr>
        <p:spPr>
          <a:xfrm>
            <a:off x="8555885" y="1814226"/>
            <a:ext cx="283376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8565">
              <a:defRPr/>
            </a:pPr>
            <a:r>
              <a:rPr lang="zh-CN" altLang="en-US" sz="2000" kern="0" dirty="0">
                <a:cs typeface="+mn-ea"/>
                <a:sym typeface="+mn-lt"/>
              </a:rPr>
              <a:t>边权异常</a:t>
            </a:r>
          </a:p>
        </p:txBody>
      </p:sp>
      <p:sp>
        <p:nvSpPr>
          <p:cNvPr id="23" name="TextBox 207">
            <a:extLst>
              <a:ext uri="{FF2B5EF4-FFF2-40B4-BE49-F238E27FC236}">
                <a16:creationId xmlns:a16="http://schemas.microsoft.com/office/drawing/2014/main" id="{62090737-01CC-0157-3297-3806CB12055E}"/>
              </a:ext>
            </a:extLst>
          </p:cNvPr>
          <p:cNvSpPr txBox="1"/>
          <p:nvPr/>
        </p:nvSpPr>
        <p:spPr>
          <a:xfrm>
            <a:off x="1960668" y="3370559"/>
            <a:ext cx="283376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8565">
              <a:defRPr/>
            </a:pPr>
            <a:r>
              <a:rPr lang="zh-CN" altLang="en-US" sz="2000" kern="0" dirty="0">
                <a:cs typeface="+mn-ea"/>
                <a:sym typeface="+mn-lt"/>
              </a:rPr>
              <a:t>政府关联性</a:t>
            </a:r>
          </a:p>
        </p:txBody>
      </p:sp>
      <p:sp>
        <p:nvSpPr>
          <p:cNvPr id="24" name="TextBox 209">
            <a:extLst>
              <a:ext uri="{FF2B5EF4-FFF2-40B4-BE49-F238E27FC236}">
                <a16:creationId xmlns:a16="http://schemas.microsoft.com/office/drawing/2014/main" id="{BC4BB889-C476-C37A-6759-DCE143B6E13F}"/>
              </a:ext>
            </a:extLst>
          </p:cNvPr>
          <p:cNvSpPr txBox="1"/>
          <p:nvPr/>
        </p:nvSpPr>
        <p:spPr>
          <a:xfrm>
            <a:off x="2277407" y="5032919"/>
            <a:ext cx="283376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8565">
              <a:defRPr/>
            </a:pPr>
            <a:r>
              <a:rPr lang="zh-CN" altLang="en-US" sz="2000" kern="0" dirty="0">
                <a:cs typeface="+mn-ea"/>
                <a:sym typeface="+mn-lt"/>
              </a:rPr>
              <a:t>孤立森林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00B25C-D40A-9014-1599-0C787DFE488A}"/>
              </a:ext>
            </a:extLst>
          </p:cNvPr>
          <p:cNvGrpSpPr/>
          <p:nvPr/>
        </p:nvGrpSpPr>
        <p:grpSpPr>
          <a:xfrm>
            <a:off x="6027023" y="5169260"/>
            <a:ext cx="2354060" cy="718885"/>
            <a:chOff x="4476081" y="3981586"/>
            <a:chExt cx="1766090" cy="53933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77B03FF-6808-A3A9-07ED-D184BAA586E0}"/>
                </a:ext>
              </a:extLst>
            </p:cNvPr>
            <p:cNvCxnSpPr/>
            <p:nvPr/>
          </p:nvCxnSpPr>
          <p:spPr>
            <a:xfrm flipV="1">
              <a:off x="4476081" y="4520915"/>
              <a:ext cx="1464071" cy="1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headEnd type="oval" w="sm" len="sm"/>
            </a:ln>
            <a:effectLst/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60B11C6-8BC7-BE43-C9FD-B0AB398E4339}"/>
                </a:ext>
              </a:extLst>
            </p:cNvPr>
            <p:cNvCxnSpPr/>
            <p:nvPr/>
          </p:nvCxnSpPr>
          <p:spPr>
            <a:xfrm>
              <a:off x="5940152" y="3981586"/>
              <a:ext cx="302019" cy="0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oval" w="sm" len="sm"/>
            </a:ln>
            <a:effectLst/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B04BD7D-F459-46A5-6211-0111F03726E2}"/>
                </a:ext>
              </a:extLst>
            </p:cNvPr>
            <p:cNvCxnSpPr/>
            <p:nvPr/>
          </p:nvCxnSpPr>
          <p:spPr>
            <a:xfrm>
              <a:off x="5940152" y="3981586"/>
              <a:ext cx="0" cy="539328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none" w="sm" len="sm"/>
            </a:ln>
            <a:effectLst/>
          </p:spPr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E65559F-04A9-67B2-F3F0-C881F8017518}"/>
              </a:ext>
            </a:extLst>
          </p:cNvPr>
          <p:cNvGrpSpPr/>
          <p:nvPr/>
        </p:nvGrpSpPr>
        <p:grpSpPr>
          <a:xfrm>
            <a:off x="7594591" y="1968115"/>
            <a:ext cx="786492" cy="1170672"/>
            <a:chOff x="5652120" y="1579986"/>
            <a:chExt cx="590051" cy="878275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5E1957C-2042-3838-EB77-124EADD7062E}"/>
                </a:ext>
              </a:extLst>
            </p:cNvPr>
            <p:cNvCxnSpPr/>
            <p:nvPr/>
          </p:nvCxnSpPr>
          <p:spPr>
            <a:xfrm>
              <a:off x="5940152" y="1579986"/>
              <a:ext cx="302019" cy="0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oval" w="sm" len="sm"/>
            </a:ln>
            <a:effectLst/>
          </p:spPr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24B7B9B-23A0-FAC2-3FCC-16D7A99FC27E}"/>
                </a:ext>
              </a:extLst>
            </p:cNvPr>
            <p:cNvCxnSpPr/>
            <p:nvPr/>
          </p:nvCxnSpPr>
          <p:spPr>
            <a:xfrm flipV="1">
              <a:off x="5652120" y="2458260"/>
              <a:ext cx="288032" cy="1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headEnd type="oval" w="sm" len="sm"/>
            </a:ln>
            <a:effectLst/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659CCB1-CBDA-C2AF-4B83-AD58FA060642}"/>
                </a:ext>
              </a:extLst>
            </p:cNvPr>
            <p:cNvCxnSpPr/>
            <p:nvPr/>
          </p:nvCxnSpPr>
          <p:spPr>
            <a:xfrm>
              <a:off x="5940152" y="1579986"/>
              <a:ext cx="0" cy="878275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none" w="sm" len="sm"/>
            </a:ln>
            <a:effectLst/>
          </p:spPr>
        </p:cxnSp>
      </p:grp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2DD82CD-91FD-759A-19BF-96C20C3093B1}"/>
              </a:ext>
            </a:extLst>
          </p:cNvPr>
          <p:cNvCxnSpPr/>
          <p:nvPr/>
        </p:nvCxnSpPr>
        <p:spPr>
          <a:xfrm flipH="1" flipV="1">
            <a:off x="4043292" y="2230672"/>
            <a:ext cx="1983730" cy="1"/>
          </a:xfrm>
          <a:prstGeom prst="line">
            <a:avLst/>
          </a:prstGeom>
          <a:noFill/>
          <a:ln w="6350" cap="flat" cmpd="sng" algn="ctr">
            <a:solidFill>
              <a:srgbClr val="1E445B"/>
            </a:solidFill>
            <a:prstDash val="dash"/>
            <a:headEnd type="oval" w="sm" len="sm"/>
          </a:ln>
          <a:effectLst/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CC26762-29AB-F567-21C9-2D1BB00F61AB}"/>
              </a:ext>
            </a:extLst>
          </p:cNvPr>
          <p:cNvCxnSpPr/>
          <p:nvPr/>
        </p:nvCxnSpPr>
        <p:spPr>
          <a:xfrm flipH="1">
            <a:off x="3467407" y="2491966"/>
            <a:ext cx="575886" cy="0"/>
          </a:xfrm>
          <a:prstGeom prst="line">
            <a:avLst/>
          </a:prstGeom>
          <a:noFill/>
          <a:ln w="6350" cap="flat" cmpd="sng" algn="ctr">
            <a:solidFill>
              <a:srgbClr val="1E445B"/>
            </a:solidFill>
            <a:prstDash val="dash"/>
            <a:tailEnd type="oval" w="sm" len="sm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F6E718A-D49D-B73D-9CBF-C0C6A97C9BF9}"/>
              </a:ext>
            </a:extLst>
          </p:cNvPr>
          <p:cNvCxnSpPr/>
          <p:nvPr/>
        </p:nvCxnSpPr>
        <p:spPr>
          <a:xfrm>
            <a:off x="4043292" y="2249803"/>
            <a:ext cx="0" cy="262556"/>
          </a:xfrm>
          <a:prstGeom prst="line">
            <a:avLst/>
          </a:prstGeom>
          <a:noFill/>
          <a:ln w="6350" cap="flat" cmpd="sng" algn="ctr">
            <a:solidFill>
              <a:srgbClr val="1E445B"/>
            </a:solidFill>
            <a:prstDash val="dash"/>
            <a:tailEnd type="none" w="sm" len="sm"/>
          </a:ln>
          <a:effectLst/>
        </p:spPr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427C31A-30DC-89B4-9F19-930DE9D75587}"/>
              </a:ext>
            </a:extLst>
          </p:cNvPr>
          <p:cNvGrpSpPr/>
          <p:nvPr/>
        </p:nvGrpSpPr>
        <p:grpSpPr>
          <a:xfrm>
            <a:off x="3467408" y="3138786"/>
            <a:ext cx="991866" cy="385662"/>
            <a:chOff x="2555777" y="2458260"/>
            <a:chExt cx="744129" cy="289336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E7C74B8-C02E-5C5E-D6BC-EA2C039D1C11}"/>
                </a:ext>
              </a:extLst>
            </p:cNvPr>
            <p:cNvCxnSpPr/>
            <p:nvPr/>
          </p:nvCxnSpPr>
          <p:spPr>
            <a:xfrm flipH="1">
              <a:off x="2987824" y="2458260"/>
              <a:ext cx="312082" cy="0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headEnd type="oval" w="sm" len="sm"/>
            </a:ln>
            <a:effectLst/>
          </p:spPr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D0CC4EC-4FE8-7102-6933-2C95A06DCE05}"/>
                </a:ext>
              </a:extLst>
            </p:cNvPr>
            <p:cNvCxnSpPr/>
            <p:nvPr/>
          </p:nvCxnSpPr>
          <p:spPr>
            <a:xfrm flipH="1">
              <a:off x="2555777" y="2747596"/>
              <a:ext cx="432048" cy="0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oval" w="sm" len="sm"/>
            </a:ln>
            <a:effectLst/>
          </p:spPr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B166816-0A34-7C88-F4A5-DDCFE9D89838}"/>
                </a:ext>
              </a:extLst>
            </p:cNvPr>
            <p:cNvCxnSpPr/>
            <p:nvPr/>
          </p:nvCxnSpPr>
          <p:spPr>
            <a:xfrm>
              <a:off x="2987824" y="2458260"/>
              <a:ext cx="0" cy="289336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none" w="sm" len="sm"/>
            </a:ln>
            <a:effectLst/>
          </p:spPr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22A7055-8B76-F5BD-B798-E660A22B6852}"/>
              </a:ext>
            </a:extLst>
          </p:cNvPr>
          <p:cNvGrpSpPr/>
          <p:nvPr/>
        </p:nvGrpSpPr>
        <p:grpSpPr>
          <a:xfrm>
            <a:off x="3467408" y="4984941"/>
            <a:ext cx="991866" cy="184320"/>
            <a:chOff x="2555777" y="3843303"/>
            <a:chExt cx="744129" cy="138283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BE23648-1E7F-4237-190B-0BD90A5EB4C7}"/>
                </a:ext>
              </a:extLst>
            </p:cNvPr>
            <p:cNvCxnSpPr/>
            <p:nvPr/>
          </p:nvCxnSpPr>
          <p:spPr>
            <a:xfrm flipH="1">
              <a:off x="2987824" y="3843303"/>
              <a:ext cx="312082" cy="0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headEnd type="oval" w="sm" len="sm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A8C5B861-D05B-8E0B-8EB9-F5356D1E4148}"/>
                </a:ext>
              </a:extLst>
            </p:cNvPr>
            <p:cNvCxnSpPr/>
            <p:nvPr/>
          </p:nvCxnSpPr>
          <p:spPr>
            <a:xfrm flipH="1">
              <a:off x="2555777" y="3979477"/>
              <a:ext cx="432048" cy="0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oval" w="sm" len="sm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FA3B186-44D4-B79A-5FA6-ECD4AD6EBF5C}"/>
                </a:ext>
              </a:extLst>
            </p:cNvPr>
            <p:cNvCxnSpPr/>
            <p:nvPr/>
          </p:nvCxnSpPr>
          <p:spPr>
            <a:xfrm>
              <a:off x="2987824" y="3843303"/>
              <a:ext cx="0" cy="138283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none" w="sm" len="sm"/>
            </a:ln>
            <a:effectLst/>
          </p:spPr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A0A21ED-35EE-3DE6-0EBF-C0EC8F180E01}"/>
              </a:ext>
            </a:extLst>
          </p:cNvPr>
          <p:cNvGrpSpPr/>
          <p:nvPr/>
        </p:nvGrpSpPr>
        <p:grpSpPr>
          <a:xfrm>
            <a:off x="7595318" y="3524448"/>
            <a:ext cx="786492" cy="1460493"/>
            <a:chOff x="5652665" y="2747596"/>
            <a:chExt cx="590051" cy="1095708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2201C0B-0342-6F98-46ED-EF096CA1422E}"/>
                </a:ext>
              </a:extLst>
            </p:cNvPr>
            <p:cNvCxnSpPr/>
            <p:nvPr/>
          </p:nvCxnSpPr>
          <p:spPr>
            <a:xfrm>
              <a:off x="5940697" y="2747596"/>
              <a:ext cx="302019" cy="0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oval" w="sm" len="sm"/>
            </a:ln>
            <a:effectLst/>
          </p:spPr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487BB80-E84C-654F-FE0E-E770B28B8121}"/>
                </a:ext>
              </a:extLst>
            </p:cNvPr>
            <p:cNvCxnSpPr/>
            <p:nvPr/>
          </p:nvCxnSpPr>
          <p:spPr>
            <a:xfrm flipV="1">
              <a:off x="5652665" y="3843303"/>
              <a:ext cx="288032" cy="1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headEnd type="oval" w="sm" len="sm"/>
            </a:ln>
            <a:effectLst/>
          </p:spPr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FFE4B7B-F2C6-2E91-4282-04269DF12DB1}"/>
                </a:ext>
              </a:extLst>
            </p:cNvPr>
            <p:cNvCxnSpPr/>
            <p:nvPr/>
          </p:nvCxnSpPr>
          <p:spPr>
            <a:xfrm>
              <a:off x="5940697" y="2747596"/>
              <a:ext cx="0" cy="1095708"/>
            </a:xfrm>
            <a:prstGeom prst="line">
              <a:avLst/>
            </a:prstGeom>
            <a:noFill/>
            <a:ln w="6350" cap="flat" cmpd="sng" algn="ctr">
              <a:solidFill>
                <a:srgbClr val="1E445B"/>
              </a:solidFill>
              <a:prstDash val="dash"/>
              <a:tailEnd type="none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93880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FFE419E-C62F-33AC-1780-59D82904A61C}"/>
              </a:ext>
            </a:extLst>
          </p:cNvPr>
          <p:cNvGrpSpPr/>
          <p:nvPr/>
        </p:nvGrpSpPr>
        <p:grpSpPr>
          <a:xfrm>
            <a:off x="1111923" y="2048071"/>
            <a:ext cx="9747847" cy="4161594"/>
            <a:chOff x="1111923" y="2048071"/>
            <a:chExt cx="9747847" cy="4161594"/>
          </a:xfrm>
        </p:grpSpPr>
        <p:sp>
          <p:nvSpPr>
            <p:cNvPr id="3" name="powerpoint template design by DAJU_PPT正版来源小红书大橘PPT微信DAJU_PPT请勿抄袭搬运！盗版必究！">
              <a:extLst>
                <a:ext uri="{FF2B5EF4-FFF2-40B4-BE49-F238E27FC236}">
                  <a16:creationId xmlns:a16="http://schemas.microsoft.com/office/drawing/2014/main" id="{599955DC-017E-020F-A342-DBCE75CC0DA1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1111923" y="2048071"/>
              <a:ext cx="7572337" cy="3194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cs typeface="+mn-ea"/>
                  <a:sym typeface="+mn-lt"/>
                </a:rPr>
                <a:t>以下展示了部分分区结果</a:t>
              </a:r>
              <a:r>
                <a:rPr lang="en-US" altLang="zh-CN" sz="1600" dirty="0">
                  <a:cs typeface="+mn-ea"/>
                  <a:sym typeface="+mn-lt"/>
                </a:rPr>
                <a:t>: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EE722B4-5CD7-9966-9450-3D002AB04F9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328420" y="2652395"/>
              <a:ext cx="4039235" cy="355727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DC8D33C-1F59-43CE-0494-4F9E49F414F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6536055" y="2602865"/>
              <a:ext cx="4323715" cy="3219450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5F7D2F6-8738-B2D6-7A8F-F32561BC62D8}"/>
              </a:ext>
            </a:extLst>
          </p:cNvPr>
          <p:cNvSpPr txBox="1"/>
          <p:nvPr/>
        </p:nvSpPr>
        <p:spPr>
          <a:xfrm>
            <a:off x="876300" y="771525"/>
            <a:ext cx="6502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异常度建模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·Louvain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算法发现局部社区</a:t>
            </a:r>
          </a:p>
        </p:txBody>
      </p:sp>
    </p:spTree>
    <p:extLst>
      <p:ext uri="{BB962C8B-B14F-4D97-AF65-F5344CB8AC3E}">
        <p14:creationId xmlns:p14="http://schemas.microsoft.com/office/powerpoint/2010/main" val="2233473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B6E0080-6F8D-4981-0751-0649CF97CFF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44574" y="1694497"/>
            <a:ext cx="9902825" cy="1143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利用</a:t>
            </a:r>
            <a:r>
              <a:rPr 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入度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出度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来衡量，如果出度为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，我们将这项设置为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100</a:t>
            </a:r>
          </a:p>
          <a:p>
            <a:pPr>
              <a:lnSpc>
                <a:spcPct val="130000"/>
              </a:lnSpc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用户可以自行设置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入度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出度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的正常范围，并为这项设置相应的权重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548998-A3D1-ADF1-1C7C-65D742A2C1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29749" y="3131910"/>
            <a:ext cx="3216275" cy="28251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2E49D58-BEBF-B9B2-4273-8612C8DED2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62274" y="3027453"/>
            <a:ext cx="3473450" cy="30340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2CDEE4-12E7-24D1-43D6-2A5000D08F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9" y="3705563"/>
            <a:ext cx="3721291" cy="14288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28018BA-998B-0291-E99F-536573A309FD}"/>
              </a:ext>
            </a:extLst>
          </p:cNvPr>
          <p:cNvSpPr txBox="1"/>
          <p:nvPr/>
        </p:nvSpPr>
        <p:spPr>
          <a:xfrm>
            <a:off x="876300" y="771525"/>
            <a:ext cx="5234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异常度建模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节点出入度不平衡</a:t>
            </a:r>
          </a:p>
        </p:txBody>
      </p:sp>
    </p:spTree>
    <p:extLst>
      <p:ext uri="{BB962C8B-B14F-4D97-AF65-F5344CB8AC3E}">
        <p14:creationId xmlns:p14="http://schemas.microsoft.com/office/powerpoint/2010/main" val="76337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F635015-C809-8EA1-9F00-7713A3A6A322}"/>
              </a:ext>
            </a:extLst>
          </p:cNvPr>
          <p:cNvGrpSpPr/>
          <p:nvPr/>
        </p:nvGrpSpPr>
        <p:grpSpPr>
          <a:xfrm>
            <a:off x="696381" y="1484002"/>
            <a:ext cx="9921753" cy="4688000"/>
            <a:chOff x="540385" y="2145901"/>
            <a:chExt cx="9921753" cy="46880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38207ED-89E2-85B0-B29D-B31899716122}"/>
                </a:ext>
              </a:extLst>
            </p:cNvPr>
            <p:cNvSpPr txBox="1"/>
            <p:nvPr/>
          </p:nvSpPr>
          <p:spPr>
            <a:xfrm>
              <a:off x="540385" y="2145901"/>
              <a:ext cx="9921753" cy="1212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000" b="0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自然界的大型网络的分布规律：少数节点具有极高的连接度，而大多数节点连接度相对较低，呈现出网络中个体关系的不均衡性，强调了少数节点对整个网络结构的重要性</a:t>
              </a:r>
              <a:r>
                <a:rPr lang="zh-CN" altLang="en-US" sz="2000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lang="en-US" altLang="zh-CN" sz="2000" i="0" dirty="0"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3C8834E-FC9E-D725-F41C-CA3B209FB8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06" t="22293" r="-1250" b="20130"/>
            <a:stretch>
              <a:fillRect/>
            </a:stretch>
          </p:blipFill>
          <p:spPr bwMode="auto">
            <a:xfrm>
              <a:off x="540385" y="3646935"/>
              <a:ext cx="4243682" cy="3101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D85490-C78E-F27A-DC67-269AC32221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84" t="16493" r="13910" b="22719"/>
            <a:stretch>
              <a:fillRect/>
            </a:stretch>
          </p:blipFill>
          <p:spPr bwMode="auto">
            <a:xfrm>
              <a:off x="6346459" y="3595123"/>
              <a:ext cx="3597689" cy="3238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FECC60F-CE8E-6DCE-8300-8AC4B1891496}"/>
              </a:ext>
            </a:extLst>
          </p:cNvPr>
          <p:cNvSpPr txBox="1"/>
          <p:nvPr/>
        </p:nvSpPr>
        <p:spPr>
          <a:xfrm>
            <a:off x="1798903" y="625752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979893388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1B69A9-8307-0C16-1B0B-BF083E4129B8}"/>
              </a:ext>
            </a:extLst>
          </p:cNvPr>
          <p:cNvSpPr txBox="1"/>
          <p:nvPr/>
        </p:nvSpPr>
        <p:spPr>
          <a:xfrm>
            <a:off x="876300" y="771525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异常度建模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幂律分布</a:t>
            </a:r>
          </a:p>
        </p:txBody>
      </p:sp>
    </p:spTree>
    <p:extLst>
      <p:ext uri="{BB962C8B-B14F-4D97-AF65-F5344CB8AC3E}">
        <p14:creationId xmlns:p14="http://schemas.microsoft.com/office/powerpoint/2010/main" val="164621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8586890-69AB-5826-12DC-BF59B9D0376E}"/>
              </a:ext>
            </a:extLst>
          </p:cNvPr>
          <p:cNvGrpSpPr/>
          <p:nvPr/>
        </p:nvGrpSpPr>
        <p:grpSpPr>
          <a:xfrm>
            <a:off x="371565" y="2079254"/>
            <a:ext cx="11057331" cy="3778003"/>
            <a:chOff x="539908" y="2112991"/>
            <a:chExt cx="11057331" cy="377800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AB43B53-91C2-26B0-EEA9-29536C11F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283" y="2112991"/>
              <a:ext cx="5402956" cy="3501004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0D9B147-957D-80BC-F027-7294FC032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9908" y="2112991"/>
              <a:ext cx="5402956" cy="342900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5DEBC6E-34A8-F181-80A9-C99D7248BE92}"/>
                    </a:ext>
                  </a:extLst>
                </p:cNvPr>
                <p:cNvSpPr txBox="1"/>
                <p:nvPr/>
              </p:nvSpPr>
              <p:spPr>
                <a:xfrm>
                  <a:off x="1585026" y="5541992"/>
                  <a:ext cx="19883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1713.5</m:t>
                        </m:r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zh-CN" alt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−1.38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5026" y="5541992"/>
                  <a:ext cx="1988301" cy="276999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4C4B2E3-1890-5995-A088-4419FB1C45CA}"/>
                    </a:ext>
                  </a:extLst>
                </p:cNvPr>
                <p:cNvSpPr txBox="1"/>
                <p:nvPr/>
              </p:nvSpPr>
              <p:spPr>
                <a:xfrm>
                  <a:off x="8211830" y="5613995"/>
                  <a:ext cx="21480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−1.38</m:t>
                        </m:r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+7.45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1830" y="5613995"/>
                  <a:ext cx="2148089" cy="276999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56035D9-C747-65A0-18B6-54B15BD9C184}"/>
              </a:ext>
            </a:extLst>
          </p:cNvPr>
          <p:cNvSpPr txBox="1"/>
          <p:nvPr/>
        </p:nvSpPr>
        <p:spPr>
          <a:xfrm>
            <a:off x="876300" y="771525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异常度建模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幂律分布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44B828C-689D-B6CA-7294-9395E8C2E1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691716" y="4178709"/>
            <a:ext cx="1362125" cy="8793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85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>
            <a:extLst>
              <a:ext uri="{FF2B5EF4-FFF2-40B4-BE49-F238E27FC236}">
                <a16:creationId xmlns:a16="http://schemas.microsoft.com/office/drawing/2014/main" id="{1F40CAF3-1718-C4E4-5DB3-5FC147CEC2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06925" y="1243965"/>
            <a:ext cx="6541440" cy="380141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F72A776-7612-86AC-CC9E-066DA9BD69A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r="58645" b="-988"/>
          <a:stretch>
            <a:fillRect/>
          </a:stretch>
        </p:blipFill>
        <p:spPr>
          <a:xfrm>
            <a:off x="5574427" y="5232797"/>
            <a:ext cx="1706548" cy="1625202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0969DAA-5B3A-0D16-0156-EEEE5D4B8AA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569000" y="5324852"/>
            <a:ext cx="1519986" cy="1405992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D7F68F43-09C0-0C0E-B7D6-05FB9DC43B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362" y="1747678"/>
            <a:ext cx="3030475" cy="4879182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1433D64B-81A8-18E3-D0DD-E276D6AFBF8C}"/>
              </a:ext>
            </a:extLst>
          </p:cNvPr>
          <p:cNvSpPr txBox="1"/>
          <p:nvPr/>
        </p:nvSpPr>
        <p:spPr>
          <a:xfrm>
            <a:off x="876300" y="771525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交互式分析系统</a:t>
            </a:r>
          </a:p>
        </p:txBody>
      </p:sp>
    </p:spTree>
    <p:extLst>
      <p:ext uri="{BB962C8B-B14F-4D97-AF65-F5344CB8AC3E}">
        <p14:creationId xmlns:p14="http://schemas.microsoft.com/office/powerpoint/2010/main" val="3394796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577AA20-177C-7A40-0D6C-418D0908E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660" y="1518328"/>
            <a:ext cx="9029036" cy="47978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F65899B-1DF7-5131-42C9-9393FAF50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73" y="1612107"/>
            <a:ext cx="1784442" cy="46103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2D1ACE6-562A-448F-ADE6-1AC506BFCDFC}"/>
              </a:ext>
            </a:extLst>
          </p:cNvPr>
          <p:cNvSpPr txBox="1"/>
          <p:nvPr/>
        </p:nvSpPr>
        <p:spPr>
          <a:xfrm>
            <a:off x="876300" y="771525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异常度评估系统</a:t>
            </a:r>
          </a:p>
        </p:txBody>
      </p:sp>
    </p:spTree>
    <p:extLst>
      <p:ext uri="{BB962C8B-B14F-4D97-AF65-F5344CB8AC3E}">
        <p14:creationId xmlns:p14="http://schemas.microsoft.com/office/powerpoint/2010/main" val="4257595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595288-71C0-AC95-0E6C-52187CF0D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48" y="1677960"/>
            <a:ext cx="4267419" cy="478814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CBC7E63-A301-78F6-CB76-8960AB5A7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504" y="391894"/>
            <a:ext cx="7953653" cy="41111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497D847-F305-B6A3-91FF-49528A99CDAD}"/>
              </a:ext>
            </a:extLst>
          </p:cNvPr>
          <p:cNvSpPr txBox="1"/>
          <p:nvPr/>
        </p:nvSpPr>
        <p:spPr>
          <a:xfrm>
            <a:off x="371565" y="647782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交互式分析系统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F8B183-F3C6-F46C-853F-84D00C3E2C72}"/>
              </a:ext>
            </a:extLst>
          </p:cNvPr>
          <p:cNvSpPr txBox="1"/>
          <p:nvPr/>
        </p:nvSpPr>
        <p:spPr>
          <a:xfrm>
            <a:off x="4474124" y="46432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重点关注热力图中的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“突出值”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296D37E-D141-F6DF-2855-0253249D97A4}"/>
              </a:ext>
            </a:extLst>
          </p:cNvPr>
          <p:cNvSpPr/>
          <p:nvPr/>
        </p:nvSpPr>
        <p:spPr>
          <a:xfrm>
            <a:off x="3515229" y="967423"/>
            <a:ext cx="529385" cy="4206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F8BBD3C-640A-9180-EE86-9464E0B30AB3}"/>
              </a:ext>
            </a:extLst>
          </p:cNvPr>
          <p:cNvSpPr/>
          <p:nvPr/>
        </p:nvSpPr>
        <p:spPr>
          <a:xfrm>
            <a:off x="4369984" y="4051587"/>
            <a:ext cx="529385" cy="4206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4877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73B31FB-EB51-49D7-7A16-F02843037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8" y="1294746"/>
            <a:ext cx="6673454" cy="194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8EA54F-7BC0-CAF2-7493-637121CAB8BB}"/>
              </a:ext>
            </a:extLst>
          </p:cNvPr>
          <p:cNvSpPr txBox="1"/>
          <p:nvPr/>
        </p:nvSpPr>
        <p:spPr>
          <a:xfrm>
            <a:off x="538436" y="3151690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重点关注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高收入、低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的公司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3D30372-3D92-E4D5-2105-426C8FD82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121" y="2070754"/>
            <a:ext cx="9517844" cy="308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3F4FC52-71E3-FED7-20B6-8F8F8E9AE900}"/>
              </a:ext>
            </a:extLst>
          </p:cNvPr>
          <p:cNvSpPr txBox="1"/>
          <p:nvPr/>
        </p:nvSpPr>
        <p:spPr>
          <a:xfrm>
            <a:off x="4119716" y="5218493"/>
            <a:ext cx="7073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关注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Beneficial Owner / Contacts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不平衡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的公司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258B1F-83BC-4D42-7FFC-67EB6CB61173}"/>
              </a:ext>
            </a:extLst>
          </p:cNvPr>
          <p:cNvSpPr txBox="1"/>
          <p:nvPr/>
        </p:nvSpPr>
        <p:spPr>
          <a:xfrm>
            <a:off x="876300" y="771525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交互式分析系统</a:t>
            </a:r>
          </a:p>
        </p:txBody>
      </p:sp>
    </p:spTree>
    <p:extLst>
      <p:ext uri="{BB962C8B-B14F-4D97-AF65-F5344CB8AC3E}">
        <p14:creationId xmlns:p14="http://schemas.microsoft.com/office/powerpoint/2010/main" val="2607553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86F2DA-5227-9C84-DB6C-BACEF1B06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30" y="1467212"/>
            <a:ext cx="3069366" cy="475148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7E16646-FA79-4269-A335-0C1515638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28" y="1611687"/>
            <a:ext cx="7763596" cy="410566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C224F11-0CC0-1E82-E387-DFA3CADA6AFA}"/>
              </a:ext>
            </a:extLst>
          </p:cNvPr>
          <p:cNvSpPr txBox="1"/>
          <p:nvPr/>
        </p:nvSpPr>
        <p:spPr>
          <a:xfrm>
            <a:off x="876300" y="771525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相似度建模分析系统</a:t>
            </a:r>
          </a:p>
        </p:txBody>
      </p:sp>
    </p:spTree>
    <p:extLst>
      <p:ext uri="{BB962C8B-B14F-4D97-AF65-F5344CB8AC3E}">
        <p14:creationId xmlns:p14="http://schemas.microsoft.com/office/powerpoint/2010/main" val="6294315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ZmOWZjN2M3OTA3NWFmYjgyN2NiYmNjODU4Y2M0N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674</Words>
  <Application>Microsoft Office PowerPoint</Application>
  <PresentationFormat>宽屏</PresentationFormat>
  <Paragraphs>88</Paragraphs>
  <Slides>27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Söhne</vt:lpstr>
      <vt:lpstr>宋体</vt:lpstr>
      <vt:lpstr>微软雅黑 Light</vt:lpstr>
      <vt:lpstr>Arial</vt:lpstr>
      <vt:lpstr>Calibri</vt:lpstr>
      <vt:lpstr>Cambria Math</vt:lpstr>
      <vt:lpstr>Times New Roman</vt:lpstr>
      <vt:lpstr>WPS</vt:lpstr>
      <vt:lpstr>大数据分析实践经验分享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方文</dc:creator>
  <cp:lastModifiedBy>宇轩 敖</cp:lastModifiedBy>
  <cp:revision>38</cp:revision>
  <dcterms:created xsi:type="dcterms:W3CDTF">2023-09-14T09:40:00Z</dcterms:created>
  <dcterms:modified xsi:type="dcterms:W3CDTF">2024-09-12T02:08:35Z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06FC336CA739413885387E871076026D_12</vt:lpwstr>
  </property>
  <property fmtid="{D5CDD505-2E9C-101B-9397-08002B2CF9AE}" pid="3" name="KSOProductBuildVer">
    <vt:lpwstr>2052-12.1.0.15398</vt:lpwstr>
  </property>
</Properties>
</file>